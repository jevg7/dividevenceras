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6858000" cy="9144000"/>
  <p:embeddedFontLst>
    <p:embeddedFont>
      <p:font typeface="Cormorant Garamond Bold Italics" charset="1" panose="00000800000000000000"/>
      <p:regular r:id="rId12"/>
    </p:embeddedFont>
    <p:embeddedFont>
      <p:font typeface="Quicksand Bold" charset="1" panose="00000000000000000000"/>
      <p:regular r:id="rId13"/>
    </p:embeddedFont>
    <p:embeddedFont>
      <p:font typeface="Quicksand" charset="1" panose="0000000000000000000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161269" y="2237411"/>
            <a:ext cx="14387892" cy="29060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1641"/>
              </a:lnSpc>
              <a:spcBef>
                <a:spcPct val="0"/>
              </a:spcBef>
            </a:pPr>
            <a:r>
              <a:rPr lang="en-US" b="true" sz="8315" i="true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Paradigma de Resolución de Problemas: "Divide y Vencerás"</a:t>
            </a:r>
          </a:p>
        </p:txBody>
      </p:sp>
      <p:sp>
        <p:nvSpPr>
          <p:cNvPr name="AutoShape 3" id="3"/>
          <p:cNvSpPr/>
          <p:nvPr/>
        </p:nvSpPr>
        <p:spPr>
          <a:xfrm>
            <a:off x="9158735" y="990600"/>
            <a:ext cx="8114971" cy="0"/>
          </a:xfrm>
          <a:prstGeom prst="line">
            <a:avLst/>
          </a:prstGeom>
          <a:ln cap="flat" w="76200">
            <a:solidFill>
              <a:srgbClr val="0F466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1043764" y="9296400"/>
            <a:ext cx="8114971" cy="0"/>
          </a:xfrm>
          <a:prstGeom prst="line">
            <a:avLst/>
          </a:prstGeom>
          <a:ln cap="flat" w="76200">
            <a:solidFill>
              <a:srgbClr val="0F466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9618706" y="9037492"/>
            <a:ext cx="2968854" cy="441617"/>
          </a:xfrm>
          <a:custGeom>
            <a:avLst/>
            <a:gdLst/>
            <a:ahLst/>
            <a:cxnLst/>
            <a:rect r="r" b="b" t="t" l="l"/>
            <a:pathLst>
              <a:path h="441617" w="2968854">
                <a:moveTo>
                  <a:pt x="0" y="0"/>
                </a:moveTo>
                <a:lnTo>
                  <a:pt x="2968854" y="0"/>
                </a:lnTo>
                <a:lnTo>
                  <a:pt x="2968854" y="441616"/>
                </a:lnTo>
                <a:lnTo>
                  <a:pt x="0" y="4416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6122871" y="6561089"/>
            <a:ext cx="6464689" cy="2175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53"/>
              </a:lnSpc>
            </a:pPr>
            <a:r>
              <a:rPr lang="en-US" sz="2466" b="true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Integrantes: </a:t>
            </a:r>
          </a:p>
          <a:p>
            <a:pPr algn="ctr">
              <a:lnSpc>
                <a:spcPts val="3453"/>
              </a:lnSpc>
            </a:pPr>
            <a:r>
              <a:rPr lang="en-US" sz="2466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Jairo Vega</a:t>
            </a:r>
          </a:p>
          <a:p>
            <a:pPr algn="ctr">
              <a:lnSpc>
                <a:spcPts val="3453"/>
              </a:lnSpc>
            </a:pPr>
            <a:r>
              <a:rPr lang="en-US" sz="2466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Leana Cruz</a:t>
            </a:r>
          </a:p>
          <a:p>
            <a:pPr algn="ctr">
              <a:lnSpc>
                <a:spcPts val="3453"/>
              </a:lnSpc>
            </a:pPr>
            <a:r>
              <a:rPr lang="en-US" sz="2466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Alex Silva</a:t>
            </a:r>
          </a:p>
          <a:p>
            <a:pPr algn="ctr" marL="0" indent="0" lvl="0">
              <a:lnSpc>
                <a:spcPts val="3453"/>
              </a:lnSpc>
              <a:spcBef>
                <a:spcPct val="0"/>
              </a:spcBef>
            </a:pPr>
            <a:r>
              <a:rPr lang="en-US" sz="2466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Claudia Vargas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850463" y="9731998"/>
            <a:ext cx="4616544" cy="357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05"/>
              </a:lnSpc>
              <a:spcBef>
                <a:spcPct val="0"/>
              </a:spcBef>
            </a:pPr>
            <a:r>
              <a:rPr lang="en-US" sz="2075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11 de Octubre de 2024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5646742" y="807892"/>
            <a:ext cx="2968854" cy="441617"/>
          </a:xfrm>
          <a:custGeom>
            <a:avLst/>
            <a:gdLst/>
            <a:ahLst/>
            <a:cxnLst/>
            <a:rect r="r" b="b" t="t" l="l"/>
            <a:pathLst>
              <a:path h="441617" w="2968854">
                <a:moveTo>
                  <a:pt x="0" y="0"/>
                </a:moveTo>
                <a:lnTo>
                  <a:pt x="2968854" y="0"/>
                </a:lnTo>
                <a:lnTo>
                  <a:pt x="2968854" y="441616"/>
                </a:lnTo>
                <a:lnTo>
                  <a:pt x="0" y="4416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496107" y="3367216"/>
            <a:ext cx="11629481" cy="41496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604983" indent="-302492" lvl="1">
              <a:lnSpc>
                <a:spcPts val="4763"/>
              </a:lnSpc>
              <a:buFont typeface="Arial"/>
              <a:buChar char="•"/>
            </a:pPr>
            <a:r>
              <a:rPr lang="en-US" sz="2802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Un enfoque algorítmico que divide un problema grande en problemas más pequeños y sencillos de resolver.</a:t>
            </a:r>
          </a:p>
          <a:p>
            <a:pPr algn="ctr" marL="604983" indent="-302492" lvl="1">
              <a:lnSpc>
                <a:spcPts val="4763"/>
              </a:lnSpc>
              <a:buFont typeface="Arial"/>
              <a:buChar char="•"/>
            </a:pPr>
            <a:r>
              <a:rPr lang="en-US" sz="2802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La solución final se obtiene combinando las soluciones de los subproblemas.</a:t>
            </a:r>
          </a:p>
          <a:p>
            <a:pPr algn="ctr" marL="604983" indent="-302492" lvl="1">
              <a:lnSpc>
                <a:spcPts val="4763"/>
              </a:lnSpc>
              <a:buFont typeface="Arial"/>
              <a:buChar char="•"/>
            </a:pPr>
            <a:r>
              <a:rPr lang="en-US" sz="2802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Ejemplos de su uso en la vida cotidiana (p.ej., organizar tareas, resolver conflictos por partes).</a:t>
            </a:r>
          </a:p>
          <a:p>
            <a:pPr algn="ctr" marL="0" indent="0" lvl="0">
              <a:lnSpc>
                <a:spcPts val="4763"/>
              </a:lnSpc>
            </a:pPr>
          </a:p>
        </p:txBody>
      </p:sp>
      <p:sp>
        <p:nvSpPr>
          <p:cNvPr name="AutoShape 3" id="3"/>
          <p:cNvSpPr/>
          <p:nvPr/>
        </p:nvSpPr>
        <p:spPr>
          <a:xfrm>
            <a:off x="5897880" y="3033841"/>
            <a:ext cx="6492240" cy="0"/>
          </a:xfrm>
          <a:prstGeom prst="line">
            <a:avLst/>
          </a:prstGeom>
          <a:ln cap="flat" w="76200">
            <a:solidFill>
              <a:srgbClr val="0F466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5897880" y="7719262"/>
            <a:ext cx="6492240" cy="0"/>
          </a:xfrm>
          <a:prstGeom prst="line">
            <a:avLst/>
          </a:prstGeom>
          <a:ln cap="flat" w="76200">
            <a:solidFill>
              <a:srgbClr val="0F466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8304001" y="2156176"/>
            <a:ext cx="1679997" cy="249900"/>
          </a:xfrm>
          <a:custGeom>
            <a:avLst/>
            <a:gdLst/>
            <a:ahLst/>
            <a:cxnLst/>
            <a:rect r="r" b="b" t="t" l="l"/>
            <a:pathLst>
              <a:path h="249900" w="1679997">
                <a:moveTo>
                  <a:pt x="0" y="0"/>
                </a:moveTo>
                <a:lnTo>
                  <a:pt x="1679998" y="0"/>
                </a:lnTo>
                <a:lnTo>
                  <a:pt x="1679998" y="249900"/>
                </a:lnTo>
                <a:lnTo>
                  <a:pt x="0" y="2499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625871"/>
            <a:ext cx="8642916" cy="19467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842"/>
              </a:lnSpc>
              <a:spcBef>
                <a:spcPct val="0"/>
              </a:spcBef>
            </a:pPr>
            <a:r>
              <a:rPr lang="en-US" b="true" sz="5601" i="true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¿Qué es el paradigma "Divide y Vencerás"?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8304001" y="8794349"/>
            <a:ext cx="1679997" cy="249900"/>
          </a:xfrm>
          <a:custGeom>
            <a:avLst/>
            <a:gdLst/>
            <a:ahLst/>
            <a:cxnLst/>
            <a:rect r="r" b="b" t="t" l="l"/>
            <a:pathLst>
              <a:path h="249900" w="1679997">
                <a:moveTo>
                  <a:pt x="0" y="0"/>
                </a:moveTo>
                <a:lnTo>
                  <a:pt x="1679998" y="0"/>
                </a:lnTo>
                <a:lnTo>
                  <a:pt x="1679998" y="249900"/>
                </a:lnTo>
                <a:lnTo>
                  <a:pt x="0" y="2499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093893" y="15849"/>
            <a:ext cx="4194107" cy="10271151"/>
            <a:chOff x="0" y="0"/>
            <a:chExt cx="1104621" cy="270515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04621" cy="2705159"/>
            </a:xfrm>
            <a:custGeom>
              <a:avLst/>
              <a:gdLst/>
              <a:ahLst/>
              <a:cxnLst/>
              <a:rect r="r" b="b" t="t" l="l"/>
              <a:pathLst>
                <a:path h="2705159" w="1104621">
                  <a:moveTo>
                    <a:pt x="0" y="0"/>
                  </a:moveTo>
                  <a:lnTo>
                    <a:pt x="1104621" y="0"/>
                  </a:lnTo>
                  <a:lnTo>
                    <a:pt x="1104621" y="2705159"/>
                  </a:lnTo>
                  <a:lnTo>
                    <a:pt x="0" y="2705159"/>
                  </a:lnTo>
                  <a:close/>
                </a:path>
              </a:pathLst>
            </a:custGeom>
            <a:solidFill>
              <a:srgbClr val="7994A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1104621" cy="27527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93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028700" y="8974931"/>
            <a:ext cx="1905000" cy="283369"/>
          </a:xfrm>
          <a:custGeom>
            <a:avLst/>
            <a:gdLst/>
            <a:ahLst/>
            <a:cxnLst/>
            <a:rect r="r" b="b" t="t" l="l"/>
            <a:pathLst>
              <a:path h="283369" w="1905000">
                <a:moveTo>
                  <a:pt x="0" y="0"/>
                </a:moveTo>
                <a:lnTo>
                  <a:pt x="1905000" y="0"/>
                </a:lnTo>
                <a:lnTo>
                  <a:pt x="1905000" y="283369"/>
                </a:lnTo>
                <a:lnTo>
                  <a:pt x="0" y="2833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681617" y="2700789"/>
            <a:ext cx="6824553" cy="4901270"/>
          </a:xfrm>
          <a:custGeom>
            <a:avLst/>
            <a:gdLst/>
            <a:ahLst/>
            <a:cxnLst/>
            <a:rect r="r" b="b" t="t" l="l"/>
            <a:pathLst>
              <a:path h="4901270" w="6824553">
                <a:moveTo>
                  <a:pt x="0" y="0"/>
                </a:moveTo>
                <a:lnTo>
                  <a:pt x="6824552" y="0"/>
                </a:lnTo>
                <a:lnTo>
                  <a:pt x="6824552" y="4901270"/>
                </a:lnTo>
                <a:lnTo>
                  <a:pt x="0" y="490127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28700" y="599709"/>
            <a:ext cx="9390243" cy="1085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959"/>
              </a:lnSpc>
              <a:spcBef>
                <a:spcPct val="0"/>
              </a:spcBef>
            </a:pPr>
            <a:r>
              <a:rPr lang="en-US" b="true" sz="6399" i="true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Fases del paradigma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2880704"/>
            <a:ext cx="7706542" cy="51075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75553" indent="-287776" lvl="1">
              <a:lnSpc>
                <a:spcPts val="4531"/>
              </a:lnSpc>
              <a:buFont typeface="Arial"/>
              <a:buChar char="•"/>
            </a:pPr>
            <a:r>
              <a:rPr lang="en-US" b="true" sz="2665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División</a:t>
            </a:r>
            <a:r>
              <a:rPr lang="en-US" sz="2665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: Separar el problema principal en subproblemas más simples.</a:t>
            </a:r>
          </a:p>
          <a:p>
            <a:pPr algn="l" marL="575553" indent="-287776" lvl="1">
              <a:lnSpc>
                <a:spcPts val="4531"/>
              </a:lnSpc>
              <a:buFont typeface="Arial"/>
              <a:buChar char="•"/>
            </a:pPr>
            <a:r>
              <a:rPr lang="en-US" b="true" sz="2665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Resolución Recursiva:</a:t>
            </a:r>
            <a:r>
              <a:rPr lang="en-US" sz="2665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 Resolver cada subproblema de manera independiente, generalmente de forma recursiva.</a:t>
            </a:r>
          </a:p>
          <a:p>
            <a:pPr algn="l" marL="575553" indent="-287776" lvl="1">
              <a:lnSpc>
                <a:spcPts val="4531"/>
              </a:lnSpc>
              <a:buFont typeface="Arial"/>
              <a:buChar char="•"/>
            </a:pPr>
            <a:r>
              <a:rPr lang="en-US" b="true" sz="2665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Combinación:</a:t>
            </a:r>
            <a:r>
              <a:rPr lang="en-US" sz="2665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 Integrar las soluciones de los subproblemas para obtener la solución del problema original.</a:t>
            </a:r>
          </a:p>
          <a:p>
            <a:pPr algn="l" marL="0" indent="0" lvl="0">
              <a:lnSpc>
                <a:spcPts val="4531"/>
              </a:lnSpc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2027699" y="5114925"/>
            <a:ext cx="4344915" cy="0"/>
          </a:xfrm>
          <a:prstGeom prst="line">
            <a:avLst/>
          </a:prstGeom>
          <a:ln cap="flat" w="57150">
            <a:solidFill>
              <a:srgbClr val="7994A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11911071" y="7344561"/>
            <a:ext cx="4346753" cy="0"/>
          </a:xfrm>
          <a:prstGeom prst="line">
            <a:avLst/>
          </a:prstGeom>
          <a:ln cap="flat" w="57150">
            <a:solidFill>
              <a:srgbClr val="7994A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 flipV="true">
            <a:off x="1660540" y="8483796"/>
            <a:ext cx="4716390" cy="0"/>
          </a:xfrm>
          <a:prstGeom prst="line">
            <a:avLst/>
          </a:prstGeom>
          <a:ln cap="flat" w="57150">
            <a:solidFill>
              <a:srgbClr val="7994A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" id="5"/>
          <p:cNvSpPr txBox="true"/>
          <p:nvPr/>
        </p:nvSpPr>
        <p:spPr>
          <a:xfrm rot="0">
            <a:off x="1024384" y="849609"/>
            <a:ext cx="14072064" cy="1085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959"/>
              </a:lnSpc>
              <a:spcBef>
                <a:spcPct val="0"/>
              </a:spcBef>
            </a:pPr>
            <a:r>
              <a:rPr lang="en-US" b="true" sz="6399" i="true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Aplicabilidad en casos prácticos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2226" y="4347210"/>
            <a:ext cx="5348229" cy="415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Usado en algoritmos de clasificación.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864383" y="3281176"/>
            <a:ext cx="4481509" cy="8180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284"/>
              </a:lnSpc>
              <a:spcBef>
                <a:spcPct val="0"/>
              </a:spcBef>
            </a:pPr>
            <a:r>
              <a:rPr lang="en-US" b="true" sz="2346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Procesamiento de grandes volúmenes de datos: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906603" y="6177624"/>
            <a:ext cx="5348229" cy="834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Para optimización en búsqueda y planificación.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911071" y="5457439"/>
            <a:ext cx="5348229" cy="490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19"/>
              </a:lnSpc>
              <a:spcBef>
                <a:spcPct val="0"/>
              </a:spcBef>
            </a:pPr>
            <a:r>
              <a:rPr lang="en-US" b="true" sz="2799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Inteligencia Artificial: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0068" y="7315986"/>
            <a:ext cx="5352545" cy="834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En cálculos complejos de matrices para gráficos tridimensionales.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4384" y="6556719"/>
            <a:ext cx="5352545" cy="490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919"/>
              </a:lnSpc>
              <a:spcBef>
                <a:spcPct val="0"/>
              </a:spcBef>
            </a:pPr>
            <a:r>
              <a:rPr lang="en-US" b="true" sz="2799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Gráficos computacionales: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15579303" y="714009"/>
            <a:ext cx="1679997" cy="249900"/>
          </a:xfrm>
          <a:custGeom>
            <a:avLst/>
            <a:gdLst/>
            <a:ahLst/>
            <a:cxnLst/>
            <a:rect r="r" b="b" t="t" l="l"/>
            <a:pathLst>
              <a:path h="249900" w="1679997">
                <a:moveTo>
                  <a:pt x="0" y="0"/>
                </a:moveTo>
                <a:lnTo>
                  <a:pt x="1679997" y="0"/>
                </a:lnTo>
                <a:lnTo>
                  <a:pt x="1679997" y="249900"/>
                </a:lnTo>
                <a:lnTo>
                  <a:pt x="0" y="2499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024384" y="9529723"/>
            <a:ext cx="1679997" cy="249900"/>
          </a:xfrm>
          <a:custGeom>
            <a:avLst/>
            <a:gdLst/>
            <a:ahLst/>
            <a:cxnLst/>
            <a:rect r="r" b="b" t="t" l="l"/>
            <a:pathLst>
              <a:path h="249900" w="1679997">
                <a:moveTo>
                  <a:pt x="0" y="0"/>
                </a:moveTo>
                <a:lnTo>
                  <a:pt x="1679997" y="0"/>
                </a:lnTo>
                <a:lnTo>
                  <a:pt x="1679997" y="249900"/>
                </a:lnTo>
                <a:lnTo>
                  <a:pt x="0" y="2499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7182950" y="4248443"/>
            <a:ext cx="3922100" cy="3972661"/>
          </a:xfrm>
          <a:custGeom>
            <a:avLst/>
            <a:gdLst/>
            <a:ahLst/>
            <a:cxnLst/>
            <a:rect r="r" b="b" t="t" l="l"/>
            <a:pathLst>
              <a:path h="3972661" w="3922100">
                <a:moveTo>
                  <a:pt x="0" y="0"/>
                </a:moveTo>
                <a:lnTo>
                  <a:pt x="3922100" y="0"/>
                </a:lnTo>
                <a:lnTo>
                  <a:pt x="3922100" y="3972662"/>
                </a:lnTo>
                <a:lnTo>
                  <a:pt x="0" y="397266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975776" y="4543742"/>
            <a:ext cx="8115300" cy="1085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959"/>
              </a:lnSpc>
              <a:spcBef>
                <a:spcPct val="0"/>
              </a:spcBef>
            </a:pPr>
            <a:r>
              <a:rPr lang="en-US" b="true" sz="6399" i="true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Ejemplo Práctico</a:t>
            </a:r>
          </a:p>
        </p:txBody>
      </p:sp>
      <p:sp>
        <p:nvSpPr>
          <p:cNvPr name="AutoShape 3" id="3"/>
          <p:cNvSpPr/>
          <p:nvPr/>
        </p:nvSpPr>
        <p:spPr>
          <a:xfrm>
            <a:off x="10767060" y="5181600"/>
            <a:ext cx="6492240" cy="0"/>
          </a:xfrm>
          <a:prstGeom prst="line">
            <a:avLst/>
          </a:prstGeom>
          <a:ln cap="flat" w="76200">
            <a:solidFill>
              <a:srgbClr val="0F4662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442710" y="3369664"/>
            <a:ext cx="11402580" cy="31857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6009"/>
              </a:lnSpc>
              <a:spcBef>
                <a:spcPct val="0"/>
              </a:spcBef>
            </a:pPr>
            <a:r>
              <a:rPr lang="en-US" b="true" sz="18577" i="true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Gracias</a:t>
            </a:r>
          </a:p>
        </p:txBody>
      </p:sp>
      <p:sp>
        <p:nvSpPr>
          <p:cNvPr name="AutoShape 3" id="3"/>
          <p:cNvSpPr/>
          <p:nvPr/>
        </p:nvSpPr>
        <p:spPr>
          <a:xfrm>
            <a:off x="5897880" y="2215083"/>
            <a:ext cx="6492240" cy="0"/>
          </a:xfrm>
          <a:prstGeom prst="line">
            <a:avLst/>
          </a:prstGeom>
          <a:ln cap="flat" w="76200">
            <a:solidFill>
              <a:srgbClr val="0F466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8304001" y="1116666"/>
            <a:ext cx="1679997" cy="249900"/>
          </a:xfrm>
          <a:custGeom>
            <a:avLst/>
            <a:gdLst/>
            <a:ahLst/>
            <a:cxnLst/>
            <a:rect r="r" b="b" t="t" l="l"/>
            <a:pathLst>
              <a:path h="249900" w="1679997">
                <a:moveTo>
                  <a:pt x="0" y="0"/>
                </a:moveTo>
                <a:lnTo>
                  <a:pt x="1679998" y="0"/>
                </a:lnTo>
                <a:lnTo>
                  <a:pt x="1679998" y="249899"/>
                </a:lnTo>
                <a:lnTo>
                  <a:pt x="0" y="24989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5" id="5"/>
          <p:cNvSpPr/>
          <p:nvPr/>
        </p:nvSpPr>
        <p:spPr>
          <a:xfrm>
            <a:off x="5897880" y="8159883"/>
            <a:ext cx="6492240" cy="0"/>
          </a:xfrm>
          <a:prstGeom prst="line">
            <a:avLst/>
          </a:prstGeom>
          <a:ln cap="flat" w="76200">
            <a:solidFill>
              <a:srgbClr val="0F466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8304001" y="9008400"/>
            <a:ext cx="1679997" cy="249900"/>
          </a:xfrm>
          <a:custGeom>
            <a:avLst/>
            <a:gdLst/>
            <a:ahLst/>
            <a:cxnLst/>
            <a:rect r="r" b="b" t="t" l="l"/>
            <a:pathLst>
              <a:path h="249900" w="1679997">
                <a:moveTo>
                  <a:pt x="0" y="0"/>
                </a:moveTo>
                <a:lnTo>
                  <a:pt x="1679998" y="0"/>
                </a:lnTo>
                <a:lnTo>
                  <a:pt x="1679998" y="249900"/>
                </a:lnTo>
                <a:lnTo>
                  <a:pt x="0" y="2499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DAGTRepDUVs</dc:identifier>
  <dcterms:modified xsi:type="dcterms:W3CDTF">2011-08-01T06:04:30Z</dcterms:modified>
  <cp:revision>1</cp:revision>
  <dc:title>White Blue Simple Modern Enhancing Sales Strategy Presentation</dc:title>
</cp:coreProperties>
</file>